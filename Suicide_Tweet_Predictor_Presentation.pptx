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1371600"/>
            <a:ext cx="3200400" cy="3200400"/>
          </a:xfrm>
          <a:prstGeom prst="ellipse">
            <a:avLst/>
          </a:prstGeom>
          <a:solidFill>
            <a:srgbClr val="B3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C3C3C"/>
                </a:solidFill>
                <a:latin typeface="Calibri Light"/>
              </a:defRPr>
            </a:pPr>
            <a:r>
              <a:t>Suicide Tweet Predictor</a:t>
            </a:r>
          </a:p>
          <a:p>
            <a:pPr>
              <a:defRPr sz="2800">
                <a:solidFill>
                  <a:srgbClr val="6497B1"/>
                </a:solidFill>
              </a:defRPr>
            </a:pPr>
            <a:r>
              <a:t>AI-Powered Mental Health Detection System 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C3C3C"/>
                </a:solidFill>
              </a:defRPr>
            </a:pPr>
            <a:r>
              <a:t>Medi Sumeet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Roll No: 24R01A66V4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97B1"/>
                </a:solidFill>
                <a:latin typeface="Calibri"/>
              </a:defRPr>
            </a:pPr>
            <a:r>
              <a:t>Why This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3C3C3C"/>
                </a:solidFill>
              </a:defRPr>
            </a:pPr>
            <a:r>
              <a:t>•  Social media platforms often contain distress signals.</a:t>
            </a:r>
          </a:p>
          <a:p>
            <a:pPr>
              <a:spcAft>
                <a:spcPts val="2000"/>
              </a:spcAft>
              <a:defRPr sz="2400">
                <a:solidFill>
                  <a:srgbClr val="3C3C3C"/>
                </a:solidFill>
              </a:defRPr>
            </a:pPr>
            <a:r>
              <a:t>•  There is a rising global mental health crisis.</a:t>
            </a:r>
          </a:p>
          <a:p>
            <a:pPr>
              <a:spcAft>
                <a:spcPts val="2000"/>
              </a:spcAft>
              <a:defRPr sz="2400">
                <a:solidFill>
                  <a:srgbClr val="3C3C3C"/>
                </a:solidFill>
              </a:defRPr>
            </a:pPr>
            <a:r>
              <a:t>•  Manual monitoring is impossible at scale.</a:t>
            </a:r>
          </a:p>
          <a:p>
            <a:pPr>
              <a:spcAft>
                <a:spcPts val="2000"/>
              </a:spcAft>
              <a:defRPr sz="2400">
                <a:solidFill>
                  <a:srgbClr val="3C3C3C"/>
                </a:solidFill>
              </a:defRPr>
            </a:pPr>
            <a:r>
              <a:t>•  Need for automated early detection systems.</a:t>
            </a:r>
          </a:p>
          <a:p>
            <a:pPr>
              <a:spcAft>
                <a:spcPts val="2000"/>
              </a:spcAft>
              <a:defRPr sz="2400">
                <a:solidFill>
                  <a:srgbClr val="3C3C3C"/>
                </a:solidFill>
              </a:defRPr>
            </a:pPr>
            <a:r>
              <a:t>•  AI facilitates immediate intervention to save lives.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029200"/>
            <a:ext cx="8531352" cy="1097280"/>
          </a:xfrm>
          <a:prstGeom prst="roundRect">
            <a:avLst/>
          </a:prstGeom>
          <a:solidFill>
            <a:srgbClr val="E6E6FA"/>
          </a:solidFill>
          <a:ln>
            <a:solidFill>
              <a:srgbClr val="E6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Early detection through AI can make a difference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97B1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An AI-powered system detecting suicidal content in tweets with 91%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743200"/>
            <a:ext cx="3200400" cy="274320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3C3C3C"/>
                </a:solidFill>
              </a:defRPr>
            </a:pPr>
            <a:r>
              <a:t>Low Risk</a:t>
            </a:r>
          </a:p>
          <a:p>
            <a:pPr algn="ctr">
              <a:defRPr sz="2400">
                <a:solidFill>
                  <a:srgbClr val="3C3C3C"/>
                </a:solidFill>
              </a:defRPr>
            </a:pPr>
            <a:r>
              <a:t>0-30%</a:t>
            </a:r>
            <a:br/>
            <a:r>
              <a:t>Safe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743200"/>
            <a:ext cx="3200400" cy="2743200"/>
          </a:xfrm>
          <a:prstGeom prst="roundRect">
            <a:avLst/>
          </a:prstGeom>
          <a:solidFill>
            <a:srgbClr val="FDF2C8"/>
          </a:solidFill>
          <a:ln>
            <a:solidFill>
              <a:srgbClr val="FDF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3C3C3C"/>
                </a:solidFill>
              </a:defRPr>
            </a:pPr>
            <a:r>
              <a:t>Moderate Risk</a:t>
            </a:r>
          </a:p>
          <a:p>
            <a:pPr algn="ctr">
              <a:defRPr sz="2400">
                <a:solidFill>
                  <a:srgbClr val="3C3C3C"/>
                </a:solidFill>
              </a:defRPr>
            </a:pPr>
            <a:r>
              <a:t>30-70%</a:t>
            </a:r>
            <a:br/>
            <a:r>
              <a:t>Monitor closely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743200"/>
            <a:ext cx="3200400" cy="2743200"/>
          </a:xfrm>
          <a:prstGeom prst="roundRect">
            <a:avLst/>
          </a:prstGeom>
          <a:solidFill>
            <a:srgbClr val="FABEBE"/>
          </a:solidFill>
          <a:ln>
            <a:solidFill>
              <a:srgbClr val="FA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3C3C3C"/>
                </a:solidFill>
              </a:defRPr>
            </a:pPr>
            <a:r>
              <a:t>High Risk ⚠️</a:t>
            </a:r>
          </a:p>
          <a:p>
            <a:pPr algn="ctr">
              <a:defRPr sz="2400">
                <a:solidFill>
                  <a:srgbClr val="3C3C3C"/>
                </a:solidFill>
              </a:defRPr>
            </a:pPr>
            <a:r>
              <a:t>70-100%</a:t>
            </a:r>
            <a:br/>
            <a:r>
              <a:t>Immediate attention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97B1"/>
                </a:solidFill>
                <a:latin typeface="Calibri"/>
              </a:defRPr>
            </a:pPr>
            <a:r>
              <a:t>How It Works - Model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1645920"/>
          </a:xfrm>
          <a:prstGeom prst="roundRect">
            <a:avLst/>
          </a:prstGeom>
          <a:solidFill>
            <a:srgbClr val="B3CDE0"/>
          </a:solidFill>
          <a:ln>
            <a:solidFill>
              <a:srgbClr val="B3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1. Data Collection</a:t>
            </a:r>
            <a:br/>
            <a:r>
              <a:t>(Kaggle Dataset)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200400" cy="1645920"/>
          </a:xfrm>
          <a:prstGeom prst="roundRect">
            <a:avLst/>
          </a:prstGeom>
          <a:solidFill>
            <a:srgbClr val="E6E6FA"/>
          </a:solidFill>
          <a:ln>
            <a:solidFill>
              <a:srgbClr val="E6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2. Preprocessing</a:t>
            </a:r>
            <a:br/>
            <a:r>
              <a:t>(Cleaning, Stopwords)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3200400" cy="164592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3. Feature Extraction</a:t>
            </a:r>
            <a:br/>
            <a:r>
              <a:t>(TF-IDF, Bag of Words)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3200400" cy="1645920"/>
          </a:xfrm>
          <a:prstGeom prst="roundRect">
            <a:avLst/>
          </a:prstGeom>
          <a:solidFill>
            <a:srgbClr val="B3CDE0"/>
          </a:solidFill>
          <a:ln>
            <a:solidFill>
              <a:srgbClr val="B3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4. Model Training</a:t>
            </a:r>
            <a:br/>
            <a:r>
              <a:t>(Logistic Regression)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114800"/>
            <a:ext cx="3200400" cy="1645920"/>
          </a:xfrm>
          <a:prstGeom prst="roundRect">
            <a:avLst/>
          </a:prstGeom>
          <a:solidFill>
            <a:srgbClr val="E6E6FA"/>
          </a:solidFill>
          <a:ln>
            <a:solidFill>
              <a:srgbClr val="E6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5. Evaluation</a:t>
            </a:r>
            <a:br/>
            <a:r>
              <a:t>(Acc: 91.04%, Prec: 92%)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114800"/>
            <a:ext cx="3200400" cy="164592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6. Deployment</a:t>
            </a:r>
            <a:br/>
            <a:r>
              <a:t>(Streamlit App)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97B1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474720" cy="1828800"/>
          </a:xfrm>
          <a:prstGeom prst="roundRect">
            <a:avLst/>
          </a:prstGeom>
          <a:solidFill>
            <a:srgbClr val="B3CDE0"/>
          </a:solidFill>
          <a:ln>
            <a:solidFill>
              <a:srgbClr val="B3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3C3C3C"/>
                </a:solidFill>
              </a:defRPr>
            </a:pPr>
            <a:r>
              <a:t>Programming</a:t>
            </a:r>
          </a:p>
          <a:p>
            <a:pPr algn="ctr">
              <a:defRPr sz="2000">
                <a:solidFill>
                  <a:srgbClr val="3C3C3C"/>
                </a:solidFill>
              </a:defRPr>
            </a:pPr>
            <a:r>
              <a:t>Python, Jupyter, VS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828800"/>
            <a:ext cx="3474720" cy="1828800"/>
          </a:xfrm>
          <a:prstGeom prst="roundRect">
            <a:avLst/>
          </a:prstGeom>
          <a:solidFill>
            <a:srgbClr val="B3CDE0"/>
          </a:solidFill>
          <a:ln>
            <a:solidFill>
              <a:srgbClr val="B3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3C3C3C"/>
                </a:solidFill>
              </a:defRPr>
            </a:pPr>
            <a:r>
              <a:t>Data Processing</a:t>
            </a:r>
          </a:p>
          <a:p>
            <a:pPr algn="ctr">
              <a:defRPr sz="2000">
                <a:solidFill>
                  <a:srgbClr val="3C3C3C"/>
                </a:solidFill>
              </a:defRPr>
            </a:pPr>
            <a:r>
              <a:t>Pandas, NumPy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3474720" cy="1828800"/>
          </a:xfrm>
          <a:prstGeom prst="roundRect">
            <a:avLst/>
          </a:prstGeom>
          <a:solidFill>
            <a:srgbClr val="B3CDE0"/>
          </a:solidFill>
          <a:ln>
            <a:solidFill>
              <a:srgbClr val="B3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3C3C3C"/>
                </a:solidFill>
              </a:defRPr>
            </a:pPr>
            <a:r>
              <a:t>Machine Learning</a:t>
            </a:r>
          </a:p>
          <a:p>
            <a:pPr algn="ctr">
              <a:defRPr sz="2000">
                <a:solidFill>
                  <a:srgbClr val="3C3C3C"/>
                </a:solidFill>
              </a:defRPr>
            </a:pPr>
            <a:r>
              <a:t>Scikit-learn, NLTK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114800"/>
            <a:ext cx="3474720" cy="1828800"/>
          </a:xfrm>
          <a:prstGeom prst="roundRect">
            <a:avLst/>
          </a:prstGeom>
          <a:solidFill>
            <a:srgbClr val="E6E6FA"/>
          </a:solidFill>
          <a:ln>
            <a:solidFill>
              <a:srgbClr val="E6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3C3C3C"/>
                </a:solidFill>
              </a:defRPr>
            </a:pPr>
            <a:r>
              <a:t>Web App</a:t>
            </a:r>
          </a:p>
          <a:p>
            <a:pPr algn="ctr">
              <a:defRPr sz="2000">
                <a:solidFill>
                  <a:srgbClr val="3C3C3C"/>
                </a:solidFill>
              </a:defRPr>
            </a:pPr>
            <a:r>
              <a:t>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114800"/>
            <a:ext cx="3474720" cy="1828800"/>
          </a:xfrm>
          <a:prstGeom prst="roundRect">
            <a:avLst/>
          </a:prstGeom>
          <a:solidFill>
            <a:srgbClr val="E6E6FA"/>
          </a:solidFill>
          <a:ln>
            <a:solidFill>
              <a:srgbClr val="E6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3C3C3C"/>
                </a:solidFill>
              </a:defRPr>
            </a:pPr>
            <a:r>
              <a:t>Dataset</a:t>
            </a:r>
          </a:p>
          <a:p>
            <a:pPr algn="ctr">
              <a:defRPr sz="2000">
                <a:solidFill>
                  <a:srgbClr val="3C3C3C"/>
                </a:solidFill>
              </a:defRPr>
            </a:pPr>
            <a:r>
              <a:t>Kaggle Suicide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97B1"/>
                </a:solidFill>
                <a:latin typeface="Calibri"/>
              </a:defRPr>
            </a:pPr>
            <a:r>
              <a:t>Real-World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FABEBE"/>
          </a:solidFill>
          <a:ln>
            <a:solidFill>
              <a:srgbClr val="FA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Problem: Manual monitoring of millions of posts is impossible.</a:t>
            </a:r>
            <a:br/>
            <a:r>
              <a:t>Solution: Automated, scalable AI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6497B1"/>
                </a:solidFill>
              </a:defRPr>
            </a:pPr>
            <a:r>
              <a:t>Application Areas:</a:t>
            </a:r>
          </a:p>
          <a:p>
            <a:pPr>
              <a:spcBef>
                <a:spcPts val="1000"/>
              </a:spcBef>
              <a:defRPr sz="2000"/>
            </a:pPr>
            <a:r>
              <a:t>• Mental Health Orgs</a:t>
            </a:r>
          </a:p>
          <a:p>
            <a:pPr>
              <a:spcBef>
                <a:spcPts val="1000"/>
              </a:spcBef>
              <a:defRPr sz="2000"/>
            </a:pPr>
            <a:r>
              <a:t>• Social Media Platforms</a:t>
            </a:r>
          </a:p>
          <a:p>
            <a:pPr>
              <a:spcBef>
                <a:spcPts val="1000"/>
              </a:spcBef>
              <a:defRPr sz="2000"/>
            </a:pPr>
            <a:r>
              <a:t>• Educational Institutions</a:t>
            </a:r>
          </a:p>
          <a:p>
            <a:pPr>
              <a:spcBef>
                <a:spcPts val="1000"/>
              </a:spcBef>
              <a:defRPr sz="2000"/>
            </a:pPr>
            <a:r>
              <a:t>• Healthcare Providers</a:t>
            </a:r>
          </a:p>
          <a:p>
            <a:pPr>
              <a:spcBef>
                <a:spcPts val="1000"/>
              </a:spcBef>
              <a:defRPr sz="2000"/>
            </a:pPr>
            <a:r>
              <a:t>• Crisis Helplines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28600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6497B1"/>
                </a:solidFill>
              </a:defRPr>
            </a:pPr>
            <a:r>
              <a:t>Key Benefits:</a:t>
            </a:r>
          </a:p>
          <a:p>
            <a:pPr>
              <a:spcBef>
                <a:spcPts val="1000"/>
              </a:spcBef>
              <a:defRPr sz="2000"/>
            </a:pPr>
            <a:r>
              <a:t>✔ 24/7 Monitoring</a:t>
            </a:r>
          </a:p>
          <a:p>
            <a:pPr>
              <a:spcBef>
                <a:spcPts val="1000"/>
              </a:spcBef>
              <a:defRPr sz="2000"/>
            </a:pPr>
            <a:r>
              <a:t>✔ Instant Assessment</a:t>
            </a:r>
          </a:p>
          <a:p>
            <a:pPr>
              <a:spcBef>
                <a:spcPts val="1000"/>
              </a:spcBef>
              <a:defRPr sz="2000"/>
            </a:pPr>
            <a:r>
              <a:t>✔ Scalable Solution</a:t>
            </a:r>
          </a:p>
          <a:p>
            <a:pPr>
              <a:spcBef>
                <a:spcPts val="1000"/>
              </a:spcBef>
              <a:defRPr sz="2000"/>
            </a:pPr>
            <a:r>
              <a:t>✔ Cost-effective</a:t>
            </a:r>
          </a:p>
          <a:p>
            <a:pPr>
              <a:spcBef>
                <a:spcPts val="1000"/>
              </a:spcBef>
              <a:defRPr sz="2000"/>
            </a:pPr>
            <a:r>
              <a:t>✔ Privacy Focused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97B1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743200" cy="137160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Deep Learning (LSTM/BERT)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828800"/>
            <a:ext cx="2743200" cy="137160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Multi-Language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2743200" cy="137160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Real-time API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828800"/>
            <a:ext cx="2743200" cy="137160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Sentiment Analysis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657600"/>
            <a:ext cx="2743200" cy="137160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Auto-Alert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657600"/>
            <a:ext cx="2743200" cy="137160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Mobile App (iOS/Android)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657600"/>
            <a:ext cx="2743200" cy="1371600"/>
          </a:xfrm>
          <a:prstGeom prst="roundRect">
            <a:avLst/>
          </a:prstGeom>
          <a:solidFill>
            <a:srgbClr val="D1F2EB"/>
          </a:solidFill>
          <a:ln>
            <a:solidFill>
              <a:srgbClr val="D1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Personalized Risk Factors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97B1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3200">
                <a:solidFill>
                  <a:srgbClr val="3C3C3C"/>
                </a:solidFill>
              </a:defRPr>
            </a:pPr>
            <a:r>
              <a:t>Medi Sumeet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Roll No: 24R01A66V4</a:t>
            </a:r>
          </a:p>
          <a:p>
            <a:pPr algn="ctr">
              <a:spcBef>
                <a:spcPts val="3000"/>
              </a:spcBef>
              <a:defRPr sz="2400" i="1">
                <a:solidFill>
                  <a:srgbClr val="3C3C3C"/>
                </a:solidFill>
              </a:defRPr>
            </a:pPr>
            <a:r>
              <a:t>Open for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